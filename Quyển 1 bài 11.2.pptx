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93" r:id="rId3"/>
    <p:sldId id="294" r:id="rId4"/>
    <p:sldId id="292" r:id="rId5"/>
    <p:sldId id="296" r:id="rId6"/>
    <p:sldId id="301" r:id="rId7"/>
    <p:sldId id="295" r:id="rId8"/>
    <p:sldId id="288" r:id="rId9"/>
    <p:sldId id="300" r:id="rId10"/>
    <p:sldId id="299" r:id="rId11"/>
    <p:sldId id="291" r:id="rId12"/>
    <p:sldId id="298" r:id="rId13"/>
    <p:sldId id="290" r:id="rId14"/>
    <p:sldId id="302" r:id="rId15"/>
    <p:sldId id="297" r:id="rId16"/>
    <p:sldId id="303" r:id="rId17"/>
    <p:sldId id="304" r:id="rId18"/>
    <p:sldId id="279" r:id="rId19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5" autoAdjust="0"/>
    <p:restoredTop sz="94599"/>
  </p:normalViewPr>
  <p:slideViewPr>
    <p:cSldViewPr snapToGrid="0" snapToObjects="1">
      <p:cViewPr varScale="1">
        <p:scale>
          <a:sx n="68" d="100"/>
          <a:sy n="68" d="100"/>
        </p:scale>
        <p:origin x="9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D81EE-88D5-4C20-B6BE-EAC59192415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495F2-8121-45F4-B9BF-F766002C1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54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9964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337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055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959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9011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4123-C7A9-C543-8CC6-7BED12D5B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F31F1-9B63-0D4A-B411-06FCA6B8A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B422A-CBEE-1B45-BA23-4AC878D44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311C2-BE4E-694F-A3A9-AE903709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4E55F-645C-CF45-802E-84B69E7A8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2941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B33A-E23B-A949-A7D0-FECAAF77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0628A-D4A7-7748-8B46-7F03F41F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DCAC9-E7C5-3241-B0DA-EE237AD0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1EA80-7F18-A04F-8265-D1C63892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E6BDD-6950-7547-9E45-EFEC8743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530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206D-C62B-204D-9347-7C90844C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82645-E165-7046-B917-CFEC5154C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6FA1C-B374-7743-A604-3563784A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99F80-68BE-2D4E-88AD-E18629A7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6318-9AB3-6442-B51D-1C34D70C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5268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04251-FABA-6A45-A45A-41B7ED09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D78E9-8565-5F41-8750-29D8610A8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8A89F-C671-7349-8E65-378266ABC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0ED6D-E8B8-1543-9360-DBE3971B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DA031-5DFF-834D-B28E-78E8C69C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EE6B7-3D0E-BF44-A142-38A50EAC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172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2066-3B57-CB45-AA14-BF87779C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E570B-846A-2743-AC1D-07A5922A0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B9C48-B070-654B-9C6B-3685F58BE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C9D302-095D-4F43-9A3B-312D2BD75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39C72-E99C-3B45-BAAF-D44977C9D6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3F54C-CE91-CE48-9077-F972B9FA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A21C45-B0AE-C845-8660-CED053EF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55821-72F2-1142-8652-5EA8A62D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829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32F2-5F96-B345-9A1B-855A74C1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99DE9-8041-5A42-A5A4-C3E015D50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D2805-AB5E-2E42-980F-C90F0BD81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58B31-68C9-5C4C-B430-DA4F46A7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75154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89671A-8127-8042-9CAE-295667993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B12C8-A5E1-4A4C-8943-D62FA61D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F34B4-9B08-A64F-B4C2-16E56B067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54151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1639-B1B3-D345-BC5F-866A196F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3B502-0C36-754F-88F7-9D5D7CE02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368AC-0790-094F-BA37-6D2DD92FE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CF04F-C280-D64A-8063-2D3E193F5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BB5CC-4339-EE40-A962-565F08DE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BDF7A-0FDC-9745-ADD9-338F3C87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6760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07A6-C3AD-8347-BA87-8A20CC988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BDC75-2ADF-1F4D-9D46-EAAC0BAFD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8E19B-88CB-3449-BFEF-5345383AF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B0AD3-B76E-A246-AE15-739510582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27FD2-BE82-4948-B243-A7260B73B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14DB1-34FA-E74A-9333-6DDD304E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9842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888B1-4A8C-174D-96BF-C478CB36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BACEE-328B-4C4C-971F-0905D6F46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FCF9B-B0F7-A949-8F33-75E38E63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B370-8942-5E4F-BFC1-3E006FFC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2F8AE-5852-084D-928B-020A273D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24066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4DB50-9A61-0749-B4AF-23108C87F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E7F04-AF3A-BE49-8F5C-F3D531853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CE76D-85DC-E342-B1F1-C0B5A9DA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F4AFA-F25B-124B-8E8D-DFD0E2B8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7DD-37F7-2946-8F03-FAF8393B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0389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4"/>
          <p:cNvSpPr txBox="1">
            <a:spLocks noGrp="1"/>
          </p:cNvSpPr>
          <p:nvPr>
            <p:ph type="title"/>
          </p:nvPr>
        </p:nvSpPr>
        <p:spPr>
          <a:xfrm>
            <a:off x="609600" y="1392233"/>
            <a:ext cx="84004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4"/>
          <p:cNvSpPr txBox="1">
            <a:spLocks noGrp="1"/>
          </p:cNvSpPr>
          <p:nvPr>
            <p:ph type="body" idx="1"/>
          </p:nvPr>
        </p:nvSpPr>
        <p:spPr>
          <a:xfrm>
            <a:off x="609600" y="2776433"/>
            <a:ext cx="3146400" cy="3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8" name="Google Shape;18;p74"/>
          <p:cNvSpPr txBox="1">
            <a:spLocks noGrp="1"/>
          </p:cNvSpPr>
          <p:nvPr>
            <p:ph type="body" idx="2"/>
          </p:nvPr>
        </p:nvSpPr>
        <p:spPr>
          <a:xfrm>
            <a:off x="4522800" y="2776433"/>
            <a:ext cx="3146400" cy="3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9" name="Google Shape;19;p74"/>
          <p:cNvSpPr txBox="1">
            <a:spLocks noGrp="1"/>
          </p:cNvSpPr>
          <p:nvPr>
            <p:ph type="body" idx="3"/>
          </p:nvPr>
        </p:nvSpPr>
        <p:spPr>
          <a:xfrm>
            <a:off x="8435996" y="2776433"/>
            <a:ext cx="3146400" cy="3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20" name="Google Shape;20;p7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88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77605" y="3163229"/>
            <a:ext cx="4711200" cy="349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6"/>
          <p:cNvSpPr txBox="1">
            <a:spLocks noGrp="1"/>
          </p:cNvSpPr>
          <p:nvPr>
            <p:ph type="title"/>
          </p:nvPr>
        </p:nvSpPr>
        <p:spPr>
          <a:xfrm>
            <a:off x="609600" y="1392233"/>
            <a:ext cx="84004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6"/>
          <p:cNvSpPr txBox="1">
            <a:spLocks noGrp="1"/>
          </p:cNvSpPr>
          <p:nvPr>
            <p:ph type="body" idx="1"/>
          </p:nvPr>
        </p:nvSpPr>
        <p:spPr>
          <a:xfrm>
            <a:off x="609600" y="2776433"/>
            <a:ext cx="3190000" cy="36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29" name="Google Shape;29;p76"/>
          <p:cNvSpPr txBox="1">
            <a:spLocks noGrp="1"/>
          </p:cNvSpPr>
          <p:nvPr>
            <p:ph type="body" idx="2"/>
          </p:nvPr>
        </p:nvSpPr>
        <p:spPr>
          <a:xfrm>
            <a:off x="3991904" y="2776433"/>
            <a:ext cx="3190000" cy="36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0" name="Google Shape;30;p7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0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BB2ED-9CF6-794D-9A04-96816C44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BF5CA-FFBC-7C42-BA9E-8C2BC54B3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CF38E-0ECC-B545-BF0C-27B241B66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E7CCC-3CC0-6B4B-B714-D5AEA8C84FA1}" type="datetimeFigureOut">
              <a:rPr lang="en-VN" smtClean="0"/>
              <a:t>08/14/2026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EC0A6-893C-D849-8E14-60CBC59DE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A6427-D72C-7D4B-9ACD-EDA0D3FEF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C8CFD-90B2-E84C-80EC-12804FB8416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7099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0+ hình nền Powepoint đẹp cho bài thuyết trình thu hú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542" y="0"/>
            <a:ext cx="12550891" cy="705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5">
            <a:extLst>
              <a:ext uri="{FF2B5EF4-FFF2-40B4-BE49-F238E27FC236}">
                <a16:creationId xmlns:a16="http://schemas.microsoft.com/office/drawing/2014/main" id="{621AB3F0-62E0-434B-BD73-3783B341CDDC}"/>
              </a:ext>
            </a:extLst>
          </p:cNvPr>
          <p:cNvSpPr txBox="1"/>
          <p:nvPr/>
        </p:nvSpPr>
        <p:spPr>
          <a:xfrm>
            <a:off x="3185503" y="2898338"/>
            <a:ext cx="6957302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vi-VN" sz="6600" dirty="0" smtClean="0">
                <a:solidFill>
                  <a:srgbClr val="58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第</a:t>
            </a:r>
            <a:r>
              <a:rPr lang="vi-VN" altLang="zh-CN" sz="6600" dirty="0">
                <a:solidFill>
                  <a:srgbClr val="58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11</a:t>
            </a:r>
            <a:r>
              <a:rPr lang="zh-CN" altLang="vi-VN" sz="6600" dirty="0" smtClean="0">
                <a:solidFill>
                  <a:srgbClr val="58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</a:t>
            </a:r>
            <a:r>
              <a:rPr lang="zh-CN" altLang="en-US" sz="6600" dirty="0" smtClean="0">
                <a:solidFill>
                  <a:srgbClr val="58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：课文二。</a:t>
            </a:r>
            <a:endParaRPr lang="zh-CN" altLang="en-US" sz="6600" dirty="0">
              <a:solidFill>
                <a:srgbClr val="58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644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F5CC3E-B394-FC4A-9D21-3E761E00BF12}"/>
              </a:ext>
            </a:extLst>
          </p:cNvPr>
          <p:cNvSpPr txBox="1"/>
          <p:nvPr/>
        </p:nvSpPr>
        <p:spPr>
          <a:xfrm>
            <a:off x="305572" y="2417198"/>
            <a:ext cx="88857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0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Bộ quần áo này không tồi, nhưng đắt quá!</a:t>
            </a:r>
            <a:endParaRPr lang="en-VN" sz="4000" i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1ED8E-C073-E34A-8194-B4EBEEDAED3C}"/>
              </a:ext>
            </a:extLst>
          </p:cNvPr>
          <p:cNvSpPr txBox="1"/>
          <p:nvPr/>
        </p:nvSpPr>
        <p:spPr>
          <a:xfrm>
            <a:off x="0" y="3175412"/>
            <a:ext cx="123033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这件衣服不错，但是</a:t>
            </a:r>
            <a:r>
              <a:rPr lang="en-US" altLang="zh-CN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可是</a:t>
            </a:r>
            <a:r>
              <a:rPr lang="en-US" altLang="zh-CN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不过太贵了</a:t>
            </a:r>
            <a:r>
              <a:rPr lang="vi-VN" altLang="zh-CN" sz="5400" dirty="0" smtClean="0">
                <a:solidFill>
                  <a:srgbClr val="C00000"/>
                </a:solidFill>
                <a:latin typeface="FangSong" panose="02010609060101010101" pitchFamily="49" charset="-122"/>
                <a:ea typeface="KaiTi" panose="02010609060101010101" pitchFamily="49" charset="-122"/>
              </a:rPr>
              <a:t>!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877A6-3CB0-FD4B-B5A1-A28055F12D49}"/>
              </a:ext>
            </a:extLst>
          </p:cNvPr>
          <p:cNvSpPr txBox="1"/>
          <p:nvPr/>
        </p:nvSpPr>
        <p:spPr>
          <a:xfrm>
            <a:off x="168086" y="227823"/>
            <a:ext cx="11283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但是</a:t>
            </a:r>
            <a:r>
              <a:rPr lang="en-US" altLang="zh-CN" sz="4000" dirty="0" smtClean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sz="40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dànshì</a:t>
            </a:r>
            <a:r>
              <a:rPr lang="en-US" sz="4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en-US" altLang="zh-CN" sz="4000" dirty="0" smtClean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40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vi-VN" altLang="zh-CN" sz="4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Liên từ</a:t>
            </a:r>
            <a:r>
              <a:rPr lang="zh-CN" altLang="en-US" sz="40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vi-VN" sz="4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vi-VN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Nhưng</a:t>
            </a:r>
            <a:endParaRPr lang="en-VN" sz="40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 descr="好惨啊，可是跟我有什么关系呢无奈摊手的卡通人物，配文“好惨啊可是跟我有什么关系呢”表情包图片gif动图-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838" y="4949922"/>
            <a:ext cx="1988152" cy="182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8086" y="1351207"/>
            <a:ext cx="570701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=</a:t>
            </a:r>
            <a:r>
              <a:rPr lang="zh-CN" altLang="en-US" sz="60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</a:t>
            </a:r>
            <a:r>
              <a:rPr lang="zh-CN" altLang="en-US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过</a:t>
            </a:r>
            <a:r>
              <a:rPr lang="zh-CN" altLang="en-US" sz="3200" dirty="0" smtClean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vi-VN" altLang="zh-CN" sz="32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bú guò)</a:t>
            </a:r>
            <a:r>
              <a:rPr lang="en-US" altLang="zh-CN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=</a:t>
            </a:r>
            <a:r>
              <a:rPr lang="zh-CN" altLang="en-US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可是</a:t>
            </a:r>
            <a:endParaRPr lang="en-VN" sz="5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10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8086" y="85280"/>
            <a:ext cx="579998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头</a:t>
            </a:r>
            <a:r>
              <a:rPr lang="zh-CN" altLang="en-US" sz="44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tóu</a:t>
            </a:r>
            <a:r>
              <a:rPr lang="vi-VN" altLang="zh-CN" sz="44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44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VN" sz="4400" b="1" dirty="0">
              <a:latin typeface="Times New Roman" panose="02020603050405020304" pitchFamily="18" charset="0"/>
              <a:ea typeface="FZKTPY01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34646" y="85280"/>
            <a:ext cx="494879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头发</a:t>
            </a:r>
            <a:r>
              <a:rPr lang="zh-CN" altLang="en-US" sz="36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tóufa</a:t>
            </a:r>
            <a:r>
              <a:rPr lang="vi-VN" altLang="zh-CN" sz="44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44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tóc</a:t>
            </a:r>
            <a:endParaRPr lang="en-VN" sz="4400" b="1" dirty="0">
              <a:latin typeface="Times New Roman" panose="02020603050405020304" pitchFamily="18" charset="0"/>
              <a:ea typeface="FZKTPY01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8086" y="1193276"/>
            <a:ext cx="8595623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2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疼</a:t>
            </a:r>
            <a:r>
              <a:rPr lang="zh-CN" altLang="en-US" sz="48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vi-VN" altLang="zh-CN" sz="4800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téng)(adj)</a:t>
            </a:r>
            <a:r>
              <a:rPr lang="zh-CN" altLang="en-US" sz="48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vi-VN" altLang="zh-CN" sz="4800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đau, buốt, nhức</a:t>
            </a:r>
            <a:br>
              <a:rPr lang="vi-VN" altLang="zh-CN" sz="4800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</a:br>
            <a:endParaRPr lang="en-VN" sz="4800" b="1" dirty="0">
              <a:latin typeface="Times New Roman" panose="02020603050405020304" pitchFamily="18" charset="0"/>
              <a:ea typeface="FZKTPY01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8086" y="2532103"/>
            <a:ext cx="896912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2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头疼</a:t>
            </a:r>
            <a:r>
              <a:rPr lang="zh-CN" altLang="en-US" sz="48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tóu</a:t>
            </a:r>
            <a:r>
              <a:rPr lang="vi-VN" altLang="zh-CN" sz="4800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téng)(adj</a:t>
            </a:r>
            <a:r>
              <a:rPr lang="en-US" altLang="zh-CN" sz="4800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/v</a:t>
            </a:r>
            <a:r>
              <a:rPr lang="vi-VN" altLang="zh-CN" sz="4800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4800" b="1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vi-VN" altLang="zh-CN" sz="4800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đau</a:t>
            </a:r>
            <a:r>
              <a:rPr lang="en-US" altLang="zh-CN" sz="4800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vi-VN" altLang="zh-CN" sz="4800" dirty="0" smtClean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đầu</a:t>
            </a:r>
            <a:endParaRPr lang="en-VN" sz="4800" b="1" dirty="0">
              <a:latin typeface="Times New Roman" panose="02020603050405020304" pitchFamily="18" charset="0"/>
              <a:ea typeface="FZKTPY01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35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1877A6-3CB0-FD4B-B5A1-A28055F12D49}"/>
              </a:ext>
            </a:extLst>
          </p:cNvPr>
          <p:cNvSpPr txBox="1"/>
          <p:nvPr/>
        </p:nvSpPr>
        <p:spPr>
          <a:xfrm>
            <a:off x="0" y="1159886"/>
            <a:ext cx="125937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考试</a:t>
            </a:r>
            <a:r>
              <a:rPr lang="en-US" altLang="zh-CN" sz="32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sz="32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kǎoshì</a:t>
            </a:r>
            <a:r>
              <a:rPr lang="en-US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sz="3200" cap="all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600" cap="all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vi-V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v li hợp</a:t>
            </a:r>
            <a:r>
              <a:rPr lang="en-US" sz="3600" cap="all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VN" sz="36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vi-VN" sz="36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thi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tra</a:t>
            </a:r>
            <a:r>
              <a:rPr 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lang="vi-V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                                  </a:t>
            </a:r>
            <a:r>
              <a:rPr lang="zh-CN" alt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vi-V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vi-VN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kỳ thi; bài kiểm tra</a:t>
            </a:r>
            <a:endParaRPr lang="en-VN" sz="36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F0082-F9B4-C54F-8241-E261B55B64A3}"/>
              </a:ext>
            </a:extLst>
          </p:cNvPr>
          <p:cNvSpPr txBox="1"/>
          <p:nvPr/>
        </p:nvSpPr>
        <p:spPr>
          <a:xfrm>
            <a:off x="255618" y="3098878"/>
            <a:ext cx="11336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Cuối tuần này tôi có bài kiểm tra tiếng Trung</a:t>
            </a:r>
            <a:endParaRPr lang="en-VN" sz="4000" i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712818" y="3868319"/>
            <a:ext cx="105695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这个周末我有汉语考试。</a:t>
            </a:r>
            <a:endParaRPr lang="en-VN" sz="60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AutoShape 2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255618" y="70838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AutoShape 4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408018" y="86078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877A6-3CB0-FD4B-B5A1-A28055F12D49}"/>
              </a:ext>
            </a:extLst>
          </p:cNvPr>
          <p:cNvSpPr txBox="1"/>
          <p:nvPr/>
        </p:nvSpPr>
        <p:spPr>
          <a:xfrm>
            <a:off x="152400" y="-108714"/>
            <a:ext cx="125937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考</a:t>
            </a:r>
            <a:r>
              <a:rPr lang="en-US" altLang="zh-CN" sz="32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sz="32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kǎo</a:t>
            </a:r>
            <a:r>
              <a:rPr lang="en-US" sz="32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sz="3200" cap="all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cap="all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lang="en-US" sz="2800" cap="all" dirty="0" err="1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khảo</a:t>
            </a:r>
            <a:r>
              <a:rPr lang="en-US" sz="2800" cap="all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en-US" sz="3600" cap="all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vi-V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sz="3600" cap="all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VN" sz="36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vi-VN" sz="36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thi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vi-V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tra, </a:t>
            </a:r>
            <a:r>
              <a:rPr lang="vi-VN" altLang="zh-C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hỏi, đố</a:t>
            </a:r>
            <a:r>
              <a:rPr 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lang="en-US" sz="3600" dirty="0" smtClean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                                              </a:t>
            </a:r>
            <a:endParaRPr lang="en-VN" sz="36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82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1877A6-3CB0-FD4B-B5A1-A28055F12D49}"/>
              </a:ext>
            </a:extLst>
          </p:cNvPr>
          <p:cNvSpPr txBox="1"/>
          <p:nvPr/>
        </p:nvSpPr>
        <p:spPr>
          <a:xfrm>
            <a:off x="0" y="-41137"/>
            <a:ext cx="127328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健康</a:t>
            </a:r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jiànkāng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3600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V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khoẻ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vi-V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khỏe</a:t>
            </a:r>
            <a:endParaRPr lang="en-V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F0082-F9B4-C54F-8241-E261B55B64A3}"/>
              </a:ext>
            </a:extLst>
          </p:cNvPr>
          <p:cNvSpPr txBox="1"/>
          <p:nvPr/>
        </p:nvSpPr>
        <p:spPr>
          <a:xfrm>
            <a:off x="204812" y="1776224"/>
            <a:ext cx="11987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Ông ấy năm nay 90 tuổi rồi vẫn rất khỏe mạnh</a:t>
            </a:r>
            <a:endParaRPr lang="en-V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460375" y="2482764"/>
            <a:ext cx="105695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他今年</a:t>
            </a:r>
            <a:r>
              <a:rPr lang="en-US" altLang="zh-CN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90</a:t>
            </a:r>
            <a:r>
              <a:rPr lang="zh-CN" altLang="en-US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岁了还很健康。</a:t>
            </a:r>
            <a:endParaRPr lang="en-VN" sz="60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AutoShape 2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" name="AutoShape 4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4" name="AutoShape 2" descr="简画笔人身体健康表情包可爱卡通形象握拳，配文“身体健康”，满满正能量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简画笔人身体健康表情包可爱卡通形象握拳，配文“身体健康”，满满正能量表情包图片gif动图- 求表情网,斗图从此不求人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870" y="450150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troke order animation of 健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5523" y="2545665"/>
            <a:ext cx="1642909" cy="164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troke order animation of 康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3589" y="2545665"/>
            <a:ext cx="1642909" cy="164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3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6</a:t>
            </a:fld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2381027" y="1468514"/>
            <a:ext cx="778695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US" sz="4800" dirty="0" err="1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钱很重要，但身体更重要</a:t>
            </a:r>
            <a:r>
              <a:rPr lang="en-US" sz="4800" dirty="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sz="4800" dirty="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pic>
        <p:nvPicPr>
          <p:cNvPr id="365" name="Google Shape;365;p33" descr="重的笔顺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027" y="1520557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3" descr="要的笔顺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027" y="3785611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3" descr="健康的重要性- 凤凰卫视美洲网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00737" y="3780435"/>
            <a:ext cx="31877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1877A6-3CB0-FD4B-B5A1-A28055F12D49}"/>
              </a:ext>
            </a:extLst>
          </p:cNvPr>
          <p:cNvSpPr txBox="1"/>
          <p:nvPr/>
        </p:nvSpPr>
        <p:spPr>
          <a:xfrm>
            <a:off x="0" y="-144463"/>
            <a:ext cx="12723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重要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zhòngyào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vi-VN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(adj)</a:t>
            </a:r>
            <a:r>
              <a:rPr lang="en-US" sz="2000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sz="2000" cap="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 </a:t>
            </a:r>
            <a:r>
              <a:rPr lang="vi-V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endParaRPr lang="en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4F0082-F9B4-C54F-8241-E261B55B64A3}"/>
              </a:ext>
            </a:extLst>
          </p:cNvPr>
          <p:cNvSpPr txBox="1"/>
          <p:nvPr/>
        </p:nvSpPr>
        <p:spPr>
          <a:xfrm>
            <a:off x="2381027" y="2485203"/>
            <a:ext cx="11987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Người nhà rất quan trọng đối với tôi</a:t>
            </a:r>
            <a:endParaRPr lang="en-VN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364;p33"/>
          <p:cNvSpPr txBox="1"/>
          <p:nvPr/>
        </p:nvSpPr>
        <p:spPr>
          <a:xfrm>
            <a:off x="1747981" y="3069314"/>
            <a:ext cx="778695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zh-CN" altLang="en-US" sz="4800" dirty="0" smtClean="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家人对我很重要</a:t>
            </a:r>
            <a:endParaRPr sz="4800" dirty="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</p:spTree>
    <p:extLst>
      <p:ext uri="{BB962C8B-B14F-4D97-AF65-F5344CB8AC3E}">
        <p14:creationId xmlns:p14="http://schemas.microsoft.com/office/powerpoint/2010/main" val="266683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F5CC3E-B394-FC4A-9D21-3E761E00BF12}"/>
              </a:ext>
            </a:extLst>
          </p:cNvPr>
          <p:cNvSpPr txBox="1"/>
          <p:nvPr/>
        </p:nvSpPr>
        <p:spPr>
          <a:xfrm>
            <a:off x="1568208" y="340327"/>
            <a:ext cx="88344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Ngày mai tôi có 1 bài kiểm tra quan trọng</a:t>
            </a:r>
            <a:endParaRPr lang="en-VN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1ED8E-C073-E34A-8194-B4EBEEDAED3C}"/>
              </a:ext>
            </a:extLst>
          </p:cNvPr>
          <p:cNvSpPr txBox="1"/>
          <p:nvPr/>
        </p:nvSpPr>
        <p:spPr>
          <a:xfrm>
            <a:off x="1622419" y="1129224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明天我有一个重要的考试</a:t>
            </a:r>
            <a:endParaRPr lang="en-VN" sz="48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F0082-F9B4-C54F-8241-E261B55B64A3}"/>
              </a:ext>
            </a:extLst>
          </p:cNvPr>
          <p:cNvSpPr txBox="1"/>
          <p:nvPr/>
        </p:nvSpPr>
        <p:spPr>
          <a:xfrm>
            <a:off x="1568208" y="2279647"/>
            <a:ext cx="10935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Đối với tôi mà nói, người nhà là quan trọng nhất</a:t>
            </a:r>
            <a:endParaRPr lang="en-VN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1622419" y="2968286"/>
            <a:ext cx="10569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对我来说，家人是最重要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AutoShape 2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1317619" y="-182587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1470019" y="-167347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 descr="很重要表情包图片- 求表情网,斗图从此不求人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770" y="389161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23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AC67E5C-D0E9-9D41-9EC2-1B2E6F1D4773}"/>
              </a:ext>
            </a:extLst>
          </p:cNvPr>
          <p:cNvSpPr txBox="1"/>
          <p:nvPr/>
        </p:nvSpPr>
        <p:spPr>
          <a:xfrm>
            <a:off x="188235" y="1410998"/>
            <a:ext cx="123473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有点儿</a:t>
            </a:r>
            <a:r>
              <a:rPr lang="en-US" altLang="zh-CN" sz="48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vi-VN" altLang="zh-CN" sz="4800" dirty="0" smtClean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adj/V </a:t>
            </a:r>
            <a:r>
              <a:rPr lang="vi-VN" altLang="zh-C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:Hơi....</a:t>
            </a:r>
          </a:p>
          <a:p>
            <a:r>
              <a:rPr lang="vi-VN" altLang="zh-CN" sz="32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Biểu thị mức độ không cao, thường dùng biểu thị sự việc không như ý</a:t>
            </a:r>
            <a:endParaRPr lang="en-VN" sz="32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877A6-3CB0-FD4B-B5A1-A28055F12D49}"/>
              </a:ext>
            </a:extLst>
          </p:cNvPr>
          <p:cNvSpPr txBox="1"/>
          <p:nvPr/>
        </p:nvSpPr>
        <p:spPr>
          <a:xfrm>
            <a:off x="-1" y="-65112"/>
            <a:ext cx="127237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有点儿</a:t>
            </a:r>
            <a:r>
              <a:rPr lang="en-US" altLang="zh-CN" sz="36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yǒudiǎnr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en-US" altLang="zh-CN" sz="36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/(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Phó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từ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vi-VN" sz="3600" b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):</a:t>
            </a:r>
            <a:r>
              <a:rPr lang="en-US" sz="3600" cap="all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vi-VN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có chút; </a:t>
            </a:r>
            <a:r>
              <a:rPr lang="vi-V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hơi</a:t>
            </a:r>
            <a:endParaRPr lang="en-VN" sz="36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0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9</a:t>
            </a:fld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6506828" y="1454984"/>
            <a:ext cx="5685172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US" sz="4800" dirty="0" err="1" smtClean="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台风有点儿大</a:t>
            </a:r>
            <a:r>
              <a:rPr lang="en-US" sz="4800" dirty="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sz="4800" dirty="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pic>
        <p:nvPicPr>
          <p:cNvPr id="301" name="Google Shape;301;p26" descr="歪，我刚从温哥华的理发店出来，现在天台风好大…… - 人在温哥华网VanPeople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1324" y="2514074"/>
            <a:ext cx="2808643" cy="280864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6"/>
          <p:cNvSpPr txBox="1"/>
          <p:nvPr/>
        </p:nvSpPr>
        <p:spPr>
          <a:xfrm>
            <a:off x="75734" y="1454916"/>
            <a:ext cx="6492400" cy="95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en-US" sz="5400" dirty="0" err="1" smtClean="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有点儿头疼</a:t>
            </a:r>
            <a:r>
              <a:rPr lang="en-US" sz="5400" dirty="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sz="5400" dirty="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pic>
        <p:nvPicPr>
          <p:cNvPr id="303" name="Google Shape;303;p26" descr="头疼怎么办?如何缓解头疼-振东健康,振东集团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0730" y="2550482"/>
            <a:ext cx="3510981" cy="2338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225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AC67E5C-D0E9-9D41-9EC2-1B2E6F1D4773}"/>
              </a:ext>
            </a:extLst>
          </p:cNvPr>
          <p:cNvSpPr txBox="1"/>
          <p:nvPr/>
        </p:nvSpPr>
        <p:spPr>
          <a:xfrm>
            <a:off x="2321169" y="321624"/>
            <a:ext cx="67393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0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Tôi bị cúm rồi, có chút khó chịu</a:t>
            </a:r>
            <a:endParaRPr lang="en-VN" sz="4000" i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E04D93-93DC-8245-BA71-4A90491B1176}"/>
              </a:ext>
            </a:extLst>
          </p:cNvPr>
          <p:cNvSpPr txBox="1"/>
          <p:nvPr/>
        </p:nvSpPr>
        <p:spPr>
          <a:xfrm>
            <a:off x="2541999" y="985759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我</a:t>
            </a:r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感冒了，有点儿难受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128D42-C042-1B42-8850-710DA6023127}"/>
              </a:ext>
            </a:extLst>
          </p:cNvPr>
          <p:cNvSpPr txBox="1"/>
          <p:nvPr/>
        </p:nvSpPr>
        <p:spPr>
          <a:xfrm>
            <a:off x="2321169" y="2588435"/>
            <a:ext cx="84946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中午没吃饭，现在有点儿饿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C67E5C-D0E9-9D41-9EC2-1B2E6F1D4773}"/>
              </a:ext>
            </a:extLst>
          </p:cNvPr>
          <p:cNvSpPr txBox="1"/>
          <p:nvPr/>
        </p:nvSpPr>
        <p:spPr>
          <a:xfrm>
            <a:off x="2321169" y="1876155"/>
            <a:ext cx="83359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0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Buổi trưa chưa ăn cơm, bây giờ hơi đói</a:t>
            </a:r>
            <a:endParaRPr lang="en-VN" sz="4000" i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42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1877A6-3CB0-FD4B-B5A1-A28055F12D49}"/>
              </a:ext>
            </a:extLst>
          </p:cNvPr>
          <p:cNvSpPr txBox="1"/>
          <p:nvPr/>
        </p:nvSpPr>
        <p:spPr>
          <a:xfrm>
            <a:off x="89161" y="-87614"/>
            <a:ext cx="12102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让</a:t>
            </a:r>
            <a:r>
              <a:rPr lang="en-US" altLang="zh-C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ràng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  </a:t>
            </a:r>
            <a:r>
              <a:rPr lang="en-US" altLang="zh-C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vi-VN" altLang="zh-C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v, giới từ)</a:t>
            </a:r>
            <a:r>
              <a:rPr lang="vi-V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sz="3600" dirty="0" smtClean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vi-VN" sz="36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nhường, khiến, nhờ, bảo, cho phép</a:t>
            </a:r>
            <a:endParaRPr lang="en-VN" sz="36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226742" y="1112715"/>
            <a:ext cx="4339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哥哥要让妹妹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AutoShape 2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226742" y="-85404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AutoShape 4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379142" y="-70164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226742" y="2123525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今天的天气真让人难受。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226742" y="3179563"/>
            <a:ext cx="5724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他让我给他买东西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226742" y="4235601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妈妈让我去外面玩儿。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899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/>
      <p:bldP spid="11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1877A6-3CB0-FD4B-B5A1-A28055F12D49}"/>
              </a:ext>
            </a:extLst>
          </p:cNvPr>
          <p:cNvSpPr txBox="1"/>
          <p:nvPr/>
        </p:nvSpPr>
        <p:spPr>
          <a:xfrm>
            <a:off x="0" y="268080"/>
            <a:ext cx="12102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solidFill>
                  <a:srgbClr val="C00000"/>
                </a:solidFill>
                <a:latin typeface="FZKTPY01" panose="03000509000000000000" pitchFamily="65" charset="-122"/>
                <a:ea typeface="FZKTPY01" panose="03000509000000000000" pitchFamily="65" charset="-122"/>
              </a:rPr>
              <a:t>叫</a:t>
            </a:r>
            <a:r>
              <a:rPr lang="zh-CN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vi-VN" altLang="zh-C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v)</a:t>
            </a:r>
            <a:r>
              <a:rPr lang="vi-VN" sz="3600" cap="all" dirty="0" smtClean="0"/>
              <a:t> </a:t>
            </a:r>
            <a:r>
              <a:rPr lang="vi-V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bảo, dặn</a:t>
            </a:r>
            <a:endParaRPr lang="en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307975" y="2227958"/>
            <a:ext cx="6340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妈妈叫我去买牛奶</a:t>
            </a:r>
            <a:endParaRPr lang="en-VN" sz="60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AutoShape 2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155575" y="-25966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307975" y="-10726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C67E5C-D0E9-9D41-9EC2-1B2E6F1D4773}"/>
              </a:ext>
            </a:extLst>
          </p:cNvPr>
          <p:cNvSpPr txBox="1"/>
          <p:nvPr/>
        </p:nvSpPr>
        <p:spPr>
          <a:xfrm>
            <a:off x="155575" y="1542187"/>
            <a:ext cx="48125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0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Mẹ bảo tôi đi mua sữa</a:t>
            </a:r>
            <a:endParaRPr lang="en-VN" sz="4000" i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Google Shape;328;p29" descr="粉色卡通女生做作业课桌png考试素材下载- 觅知网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8913" y="3935987"/>
            <a:ext cx="3635692" cy="272847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27;p29"/>
          <p:cNvSpPr txBox="1"/>
          <p:nvPr/>
        </p:nvSpPr>
        <p:spPr>
          <a:xfrm>
            <a:off x="-487394" y="3243621"/>
            <a:ext cx="823573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000" b="0" i="0" u="none" strike="noStrike" cap="none" dirty="0" err="1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老师叫我们做作业</a:t>
            </a:r>
            <a:r>
              <a:rPr lang="en-US" sz="6000" b="0" i="0" u="none" strike="noStrike" cap="none" dirty="0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sz="6000" b="0" i="0" u="none" strike="noStrike" cap="none" dirty="0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</p:spTree>
    <p:extLst>
      <p:ext uri="{BB962C8B-B14F-4D97-AF65-F5344CB8AC3E}">
        <p14:creationId xmlns:p14="http://schemas.microsoft.com/office/powerpoint/2010/main" val="33874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6128D42-C042-1B42-8850-710DA6023127}"/>
              </a:ext>
            </a:extLst>
          </p:cNvPr>
          <p:cNvSpPr txBox="1"/>
          <p:nvPr/>
        </p:nvSpPr>
        <p:spPr>
          <a:xfrm>
            <a:off x="927378" y="2292740"/>
            <a:ext cx="4339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她请我喝咖啡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C67E5C-D0E9-9D41-9EC2-1B2E6F1D4773}"/>
              </a:ext>
            </a:extLst>
          </p:cNvPr>
          <p:cNvSpPr txBox="1"/>
          <p:nvPr/>
        </p:nvSpPr>
        <p:spPr>
          <a:xfrm>
            <a:off x="555753" y="47816"/>
            <a:ext cx="114812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Câu kiêm ngữ là câu vị ngữ có 2 động từ, do 2 cấu tạo động tân tạo thành, O của V1 là S của v2, phủ định thêm </a:t>
            </a:r>
            <a:r>
              <a:rPr lang="zh-CN" altLang="en-US" sz="3200" dirty="0" smtClean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</a:t>
            </a:r>
            <a:r>
              <a:rPr lang="en-US" altLang="zh-CN" sz="3200" dirty="0" smtClean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3200" dirty="0" smtClean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没 </a:t>
            </a:r>
            <a:r>
              <a:rPr lang="vi-VN" sz="32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vào trước V1</a:t>
            </a:r>
            <a:endParaRPr lang="en-VN" sz="32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E11B1-514D-BD47-9580-3B697E25A343}"/>
              </a:ext>
            </a:extLst>
          </p:cNvPr>
          <p:cNvSpPr txBox="1"/>
          <p:nvPr/>
        </p:nvSpPr>
        <p:spPr>
          <a:xfrm>
            <a:off x="1611546" y="1354944"/>
            <a:ext cx="8863324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4000" b="1" dirty="0" smtClean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S+ V1</a:t>
            </a:r>
            <a:r>
              <a:rPr lang="zh-CN" altLang="en-US" sz="4000" b="1" dirty="0" smtClean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（叫</a:t>
            </a:r>
            <a:r>
              <a:rPr lang="en-US" altLang="zh-CN" sz="4000" b="1" dirty="0" smtClean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4000" b="1" dirty="0" smtClean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让</a:t>
            </a:r>
            <a:r>
              <a:rPr lang="en-US" altLang="zh-CN" sz="4000" b="1" dirty="0" smtClean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4000" b="1" dirty="0" smtClean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请，</a:t>
            </a:r>
            <a:r>
              <a:rPr lang="en-US" altLang="zh-CN" sz="4000" b="1" dirty="0" smtClean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vi-VN" altLang="zh-CN" sz="4000" b="1" dirty="0">
                <a:solidFill>
                  <a:srgbClr val="0070C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4000" b="1" dirty="0" smtClean="0">
                <a:solidFill>
                  <a:srgbClr val="0070C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 O1+ V2+ (O2)</a:t>
            </a:r>
            <a:endParaRPr lang="en-VN" sz="4000" b="1" dirty="0">
              <a:solidFill>
                <a:srgbClr val="0070C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28D42-C042-1B42-8850-710DA6023127}"/>
              </a:ext>
            </a:extLst>
          </p:cNvPr>
          <p:cNvSpPr txBox="1"/>
          <p:nvPr/>
        </p:nvSpPr>
        <p:spPr>
          <a:xfrm>
            <a:off x="927378" y="3335212"/>
            <a:ext cx="5724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妈妈叫我去买水果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1028788" y="4377684"/>
            <a:ext cx="71096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我请朋友来我家玩儿</a:t>
            </a:r>
            <a:endParaRPr lang="en-VN" sz="60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132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14</a:t>
            </a:fld>
            <a:endParaRPr/>
          </a:p>
        </p:txBody>
      </p:sp>
      <p:sp>
        <p:nvSpPr>
          <p:cNvPr id="386" name="Google Shape;386;p38"/>
          <p:cNvSpPr txBox="1"/>
          <p:nvPr/>
        </p:nvSpPr>
        <p:spPr>
          <a:xfrm>
            <a:off x="483782" y="297970"/>
            <a:ext cx="11224436" cy="289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US" sz="3600" dirty="0" err="1" smtClean="0">
                <a:solidFill>
                  <a:srgbClr val="32303E"/>
                </a:solidFill>
                <a:latin typeface="KaiTi"/>
                <a:ea typeface="KaiTi"/>
                <a:cs typeface="KaiTi"/>
                <a:sym typeface="KaiTi"/>
              </a:rPr>
              <a:t>Phủ</a:t>
            </a:r>
            <a:r>
              <a:rPr lang="en-US" sz="3600" dirty="0" smtClean="0">
                <a:solidFill>
                  <a:srgbClr val="32303E"/>
                </a:solidFill>
                <a:latin typeface="KaiTi"/>
                <a:ea typeface="KaiTi"/>
                <a:cs typeface="KaiTi"/>
                <a:sym typeface="KaiTi"/>
              </a:rPr>
              <a:t> </a:t>
            </a:r>
            <a:r>
              <a:rPr lang="en-US" sz="3600" dirty="0" err="1">
                <a:solidFill>
                  <a:srgbClr val="32303E"/>
                </a:solidFill>
                <a:latin typeface="KaiTi"/>
                <a:ea typeface="KaiTi"/>
                <a:cs typeface="KaiTi"/>
                <a:sym typeface="KaiTi"/>
              </a:rPr>
              <a:t>định</a:t>
            </a:r>
            <a:r>
              <a:rPr lang="en-US" sz="3600" dirty="0">
                <a:solidFill>
                  <a:srgbClr val="32303E"/>
                </a:solidFill>
                <a:latin typeface="KaiTi"/>
                <a:ea typeface="KaiTi"/>
                <a:cs typeface="KaiTi"/>
                <a:sym typeface="KaiTi"/>
              </a:rPr>
              <a:t>: </a:t>
            </a:r>
            <a:r>
              <a:rPr lang="en-US" sz="3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+ 不/没 + 叫/让/请 + </a:t>
            </a:r>
            <a:r>
              <a:rPr lang="en-US" sz="36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Kiêm</a:t>
            </a:r>
            <a:r>
              <a:rPr lang="en-US" sz="3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ngữ</a:t>
            </a:r>
            <a:r>
              <a:rPr lang="en-US" sz="3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V + O</a:t>
            </a:r>
            <a:endParaRPr sz="3600" dirty="0"/>
          </a:p>
          <a:p>
            <a:endParaRPr sz="36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US" sz="36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VD:</a:t>
            </a:r>
            <a:endParaRPr sz="3600" dirty="0"/>
          </a:p>
          <a:p>
            <a:pPr>
              <a:buClr>
                <a:srgbClr val="000000"/>
              </a:buClr>
              <a:buSzPts val="2000"/>
            </a:pPr>
            <a:r>
              <a:rPr lang="en-US" sz="3600" dirty="0" err="1" smtClean="0">
                <a:solidFill>
                  <a:srgbClr val="32303E"/>
                </a:solidFill>
                <a:latin typeface="KaiTi"/>
                <a:ea typeface="KaiTi"/>
                <a:cs typeface="KaiTi"/>
                <a:sym typeface="KaiTi"/>
              </a:rPr>
              <a:t>妈妈</a:t>
            </a:r>
            <a:r>
              <a:rPr lang="en-US" sz="3600" dirty="0" err="1" smtClean="0">
                <a:solidFill>
                  <a:srgbClr val="000000"/>
                </a:solidFill>
                <a:latin typeface="KaiTi"/>
                <a:ea typeface="KaiTi"/>
                <a:cs typeface="KaiTi"/>
                <a:sym typeface="KaiTi"/>
              </a:rPr>
              <a:t>没</a:t>
            </a:r>
            <a:r>
              <a:rPr lang="en-US" sz="3600" dirty="0" err="1" smtClean="0">
                <a:solidFill>
                  <a:srgbClr val="32303E"/>
                </a:solidFill>
                <a:latin typeface="KaiTi"/>
                <a:ea typeface="KaiTi"/>
                <a:cs typeface="KaiTi"/>
                <a:sym typeface="KaiTi"/>
              </a:rPr>
              <a:t>叫我去超市买水果</a:t>
            </a:r>
            <a:endParaRPr lang="en-US" sz="3600" dirty="0" smtClean="0">
              <a:solidFill>
                <a:srgbClr val="32303E"/>
              </a:solidFill>
              <a:latin typeface="KaiTi"/>
              <a:ea typeface="KaiTi"/>
              <a:cs typeface="KaiTi"/>
              <a:sym typeface="KaiTi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zh-CN" altLang="en-US" sz="3600" dirty="0">
                <a:solidFill>
                  <a:srgbClr val="32303E"/>
                </a:solidFill>
                <a:latin typeface="KaiTi"/>
                <a:ea typeface="KaiTi"/>
                <a:cs typeface="KaiTi"/>
                <a:sym typeface="KaiTi"/>
              </a:rPr>
              <a:t>爸</a:t>
            </a:r>
            <a:r>
              <a:rPr lang="zh-CN" altLang="en-US" sz="3600" dirty="0" smtClean="0">
                <a:solidFill>
                  <a:srgbClr val="32303E"/>
                </a:solidFill>
                <a:latin typeface="KaiTi"/>
                <a:ea typeface="KaiTi"/>
                <a:cs typeface="KaiTi"/>
                <a:sym typeface="KaiTi"/>
              </a:rPr>
              <a:t>爸不让我玩儿手机</a:t>
            </a:r>
            <a:endParaRPr sz="3600" dirty="0">
              <a:solidFill>
                <a:srgbClr val="32303E"/>
              </a:solidFill>
              <a:latin typeface="KaiTi"/>
              <a:ea typeface="KaiTi"/>
              <a:cs typeface="KaiTi"/>
              <a:sym typeface="KaiTi"/>
            </a:endParaRPr>
          </a:p>
        </p:txBody>
      </p:sp>
    </p:spTree>
    <p:extLst>
      <p:ext uri="{BB962C8B-B14F-4D97-AF65-F5344CB8AC3E}">
        <p14:creationId xmlns:p14="http://schemas.microsoft.com/office/powerpoint/2010/main" val="47167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1877A6-3CB0-FD4B-B5A1-A28055F12D49}"/>
              </a:ext>
            </a:extLst>
          </p:cNvPr>
          <p:cNvSpPr txBox="1"/>
          <p:nvPr/>
        </p:nvSpPr>
        <p:spPr>
          <a:xfrm>
            <a:off x="0" y="-245391"/>
            <a:ext cx="112836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得</a:t>
            </a:r>
            <a:r>
              <a:rPr lang="en-US" altLang="zh-CN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4000" dirty="0" err="1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děi</a:t>
            </a:r>
            <a:r>
              <a:rPr lang="en-US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en-US" sz="4000" cap="all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[</a:t>
            </a:r>
            <a:r>
              <a:rPr lang="vi-VN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v năng nguyện</a:t>
            </a:r>
            <a:r>
              <a:rPr lang="en-US" sz="4000" cap="all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VN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vi-VN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phải</a:t>
            </a:r>
            <a:br>
              <a:rPr lang="vi-VN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lang="vi-VN" sz="4000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(do hoàn cảnh, quy định hoặc tình huống yêu cầu)</a:t>
            </a:r>
            <a:endParaRPr lang="en-VN" sz="40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5CC3E-B394-FC4A-9D21-3E761E00BF12}"/>
              </a:ext>
            </a:extLst>
          </p:cNvPr>
          <p:cNvSpPr txBox="1"/>
          <p:nvPr/>
        </p:nvSpPr>
        <p:spPr>
          <a:xfrm>
            <a:off x="612775" y="1616154"/>
            <a:ext cx="76787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4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Muộn lắm rồi, tôi phải đi ngủ rồi</a:t>
            </a:r>
            <a:endParaRPr lang="en-VN" sz="4400" i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1ED8E-C073-E34A-8194-B4EBEEDAED3C}"/>
              </a:ext>
            </a:extLst>
          </p:cNvPr>
          <p:cNvSpPr txBox="1"/>
          <p:nvPr/>
        </p:nvSpPr>
        <p:spPr>
          <a:xfrm>
            <a:off x="1243556" y="2258033"/>
            <a:ext cx="64171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太晚</a:t>
            </a:r>
            <a:r>
              <a:rPr lang="zh-CN" altLang="en-US" sz="54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了，我得睡觉了</a:t>
            </a:r>
            <a:endParaRPr lang="en-VN" sz="5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F0082-F9B4-C54F-8241-E261B55B64A3}"/>
              </a:ext>
            </a:extLst>
          </p:cNvPr>
          <p:cNvSpPr txBox="1"/>
          <p:nvPr/>
        </p:nvSpPr>
        <p:spPr>
          <a:xfrm>
            <a:off x="718341" y="3252359"/>
            <a:ext cx="11309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i="1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Em gái bị cúm rồi, tôi phải đưa nó đi bệnh viện</a:t>
            </a:r>
            <a:endParaRPr lang="en-VN" sz="4400" i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E2B82-43EA-A941-BBF1-83941C32C913}"/>
              </a:ext>
            </a:extLst>
          </p:cNvPr>
          <p:cNvSpPr txBox="1"/>
          <p:nvPr/>
        </p:nvSpPr>
        <p:spPr>
          <a:xfrm>
            <a:off x="509980" y="3996467"/>
            <a:ext cx="105695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妹妹感冒了，我得带她去医院</a:t>
            </a:r>
            <a:endParaRPr lang="en-VN" sz="60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AutoShape 2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155575" y="-31327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AutoShape 4" descr="一般般吧可爱兔子裹着围巾双臂交叉，一脸冷漠配文“一般般吧”表情包图片gif动图- 求表情网,斗图从此不求人!"/>
          <p:cNvSpPr>
            <a:spLocks noChangeAspect="1" noChangeArrowheads="1"/>
          </p:cNvSpPr>
          <p:nvPr/>
        </p:nvSpPr>
        <p:spPr bwMode="auto">
          <a:xfrm>
            <a:off x="307975" y="-16087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89998" y="339384"/>
            <a:ext cx="30059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rgbClr val="000000"/>
              </a:buClr>
              <a:buSzPts val="2000"/>
            </a:pPr>
            <a:r>
              <a:rPr lang="en-US" sz="3600" dirty="0" err="1">
                <a:solidFill>
                  <a:srgbClr val="3230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Phủ</a:t>
            </a:r>
            <a:r>
              <a:rPr lang="en-US" sz="3600" dirty="0">
                <a:solidFill>
                  <a:srgbClr val="3230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3230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định</a:t>
            </a:r>
            <a:r>
              <a:rPr lang="en-US" sz="3600" dirty="0">
                <a:solidFill>
                  <a:srgbClr val="3230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zh-CN" altLang="en-US" sz="3600" dirty="0">
                <a:solidFill>
                  <a:srgbClr val="3230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不用</a:t>
            </a:r>
          </a:p>
        </p:txBody>
      </p:sp>
    </p:spTree>
    <p:extLst>
      <p:ext uri="{BB962C8B-B14F-4D97-AF65-F5344CB8AC3E}">
        <p14:creationId xmlns:p14="http://schemas.microsoft.com/office/powerpoint/2010/main" val="393840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16</a:t>
            </a:fld>
            <a:endParaRPr/>
          </a:p>
        </p:txBody>
      </p:sp>
      <p:sp>
        <p:nvSpPr>
          <p:cNvPr id="405" name="Google Shape;405;p88"/>
          <p:cNvSpPr txBox="1"/>
          <p:nvPr/>
        </p:nvSpPr>
        <p:spPr>
          <a:xfrm>
            <a:off x="478387" y="264412"/>
            <a:ext cx="11560658" cy="5408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2800"/>
            </a:pP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李白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		：</a:t>
            </a: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你现在好一点儿了吗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？</a:t>
            </a:r>
            <a:endParaRPr sz="3733" dirty="0">
              <a:solidFill>
                <a:srgbClr val="C00000"/>
              </a:solidFill>
              <a:latin typeface="KaiTi"/>
              <a:ea typeface="KaiTi"/>
              <a:cs typeface="KaiTi"/>
              <a:sym typeface="KaiTi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2800"/>
            </a:pP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马小军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	：</a:t>
            </a: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好一点儿了，但是头还有点儿疼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，</a:t>
            </a:r>
            <a:b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</a:b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				</a:t>
            </a: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不太舒服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sz="3733" dirty="0">
              <a:solidFill>
                <a:srgbClr val="C00000"/>
              </a:solidFill>
              <a:latin typeface="KaiTi"/>
              <a:ea typeface="KaiTi"/>
              <a:cs typeface="KaiTi"/>
              <a:sym typeface="KaiTi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2800"/>
            </a:pP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李白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		：</a:t>
            </a: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去医院看医生了吗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？</a:t>
            </a:r>
            <a:endParaRPr sz="3733" dirty="0">
              <a:solidFill>
                <a:srgbClr val="C00000"/>
              </a:solidFill>
              <a:latin typeface="KaiTi"/>
              <a:ea typeface="KaiTi"/>
              <a:cs typeface="KaiTi"/>
              <a:sym typeface="KaiTi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2800"/>
            </a:pP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马小军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	：</a:t>
            </a: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去看了，医生叫我多休息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sz="3733" dirty="0">
              <a:solidFill>
                <a:srgbClr val="C00000"/>
              </a:solidFill>
              <a:latin typeface="KaiTi"/>
              <a:ea typeface="KaiTi"/>
              <a:cs typeface="KaiTi"/>
              <a:sym typeface="KaiTi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2800"/>
            </a:pP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李白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		：</a:t>
            </a: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那明天别去上课了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sz="3733" dirty="0">
              <a:solidFill>
                <a:srgbClr val="C00000"/>
              </a:solidFill>
              <a:latin typeface="KaiTi"/>
              <a:ea typeface="KaiTi"/>
              <a:cs typeface="KaiTi"/>
              <a:sym typeface="KaiTi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2800"/>
            </a:pP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马小军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	：</a:t>
            </a: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我得去，因为快考试了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sz="3733" dirty="0">
              <a:solidFill>
                <a:srgbClr val="C00000"/>
              </a:solidFill>
              <a:latin typeface="KaiTi"/>
              <a:ea typeface="KaiTi"/>
              <a:cs typeface="KaiTi"/>
              <a:sym typeface="KaiTi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2800"/>
            </a:pP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李白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		：</a:t>
            </a:r>
            <a:r>
              <a:rPr lang="en-US" sz="3733" dirty="0" err="1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健康更重要，你多休息一天吧</a:t>
            </a:r>
            <a:r>
              <a:rPr lang="en-US" sz="3733" dirty="0">
                <a:solidFill>
                  <a:srgbClr val="C00000"/>
                </a:solidFill>
                <a:latin typeface="KaiTi"/>
                <a:ea typeface="KaiTi"/>
                <a:cs typeface="KaiTi"/>
                <a:sym typeface="KaiTi"/>
              </a:rPr>
              <a:t>。</a:t>
            </a:r>
            <a:endParaRPr sz="3733" dirty="0">
              <a:solidFill>
                <a:srgbClr val="C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</p:spTree>
    <p:extLst>
      <p:ext uri="{BB962C8B-B14F-4D97-AF65-F5344CB8AC3E}">
        <p14:creationId xmlns:p14="http://schemas.microsoft.com/office/powerpoint/2010/main" val="206894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17</a:t>
            </a:fld>
            <a:endParaRPr/>
          </a:p>
        </p:txBody>
      </p:sp>
      <p:pic>
        <p:nvPicPr>
          <p:cNvPr id="411" name="Google Shape;411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006"/>
            <a:ext cx="12192003" cy="684198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89"/>
          <p:cNvSpPr txBox="1"/>
          <p:nvPr/>
        </p:nvSpPr>
        <p:spPr>
          <a:xfrm>
            <a:off x="5893433" y="951500"/>
            <a:ext cx="6145600" cy="69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2933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88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谢谢表情包感谢道谢微信QQ表情包_GIF之家">
            <a:extLst>
              <a:ext uri="{FF2B5EF4-FFF2-40B4-BE49-F238E27FC236}">
                <a16:creationId xmlns:a16="http://schemas.microsoft.com/office/drawing/2014/main" id="{0065CCC5-00EE-D245-975F-1A293D11C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281" y="2025125"/>
            <a:ext cx="2981368" cy="298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6A661E-2DAD-7842-804F-7C5BC6A06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963"/>
            <a:ext cx="8776505" cy="585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9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557</Words>
  <Application>Microsoft Office PowerPoint</Application>
  <PresentationFormat>Widescreen</PresentationFormat>
  <Paragraphs>70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等线</vt:lpstr>
      <vt:lpstr>FangSong</vt:lpstr>
      <vt:lpstr>FZKTPY01</vt:lpstr>
      <vt:lpstr>KaiTi</vt:lpstr>
      <vt:lpstr>Poppins</vt:lpstr>
      <vt:lpstr>SimSun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hp</cp:lastModifiedBy>
  <cp:revision>54</cp:revision>
  <dcterms:created xsi:type="dcterms:W3CDTF">2021-11-11T15:43:31Z</dcterms:created>
  <dcterms:modified xsi:type="dcterms:W3CDTF">2026-08-14T11:13:26Z</dcterms:modified>
</cp:coreProperties>
</file>